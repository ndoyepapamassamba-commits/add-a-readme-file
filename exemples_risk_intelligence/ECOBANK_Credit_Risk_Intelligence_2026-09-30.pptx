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ApexAgenda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ApexAg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ApexAg" Type="http://schemas.openxmlformats.org/officeDocument/2006/relationships/slide" Target="slides/slideApexAgenda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Impayés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>
              <a:outerShdw sx="100000" sy="100000" kx="0" ky="0" algn="bl" blurRad="50800" rotWithShape="1" dist="25400" dir="5400000">
                <a:srgbClr val="001B4D">
                  <a:alpha val="30000"/>
                </a:srgbClr>
              </a:outerShdw>
            </a:effectLst>
          </c:spPr>
          <c:marker>
            <c:symbol val="circle"/>
            <c:size val="7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31/01</c:v>
                  </c:pt>
                  <c:pt idx="1">
                    <c:v>28/02</c:v>
                  </c:pt>
                  <c:pt idx="2">
                    <c:v>31/03</c:v>
                  </c:pt>
                  <c:pt idx="3">
                    <c:v>30/04</c:v>
                  </c:pt>
                  <c:pt idx="4">
                    <c:v>31/05</c:v>
                  </c:pt>
                  <c:pt idx="5">
                    <c:v>30/06</c:v>
                  </c:pt>
                  <c:pt idx="6">
                    <c:v>31/07</c:v>
                  </c:pt>
                  <c:pt idx="7">
                    <c:v>31/08</c:v>
                  </c:pt>
                  <c:pt idx="8">
                    <c:v>30/09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29184523554</c:v>
                </c:pt>
                <c:pt idx="1">
                  <c:v>29420095999</c:v>
                </c:pt>
                <c:pt idx="2">
                  <c:v>29702243448</c:v>
                </c:pt>
                <c:pt idx="3">
                  <c:v>29928927133</c:v>
                </c:pt>
                <c:pt idx="4">
                  <c:v>30088767435</c:v>
                </c:pt>
                <c:pt idx="5">
                  <c:v>30408508959</c:v>
                </c:pt>
                <c:pt idx="6">
                  <c:v>31308379288</c:v>
                </c:pt>
                <c:pt idx="7">
                  <c:v>31559855616</c:v>
                </c:pt>
                <c:pt idx="8">
                  <c:v>31893133004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</c:v>
                </c:pt>
              </c:strCache>
            </c:strRef>
          </c:tx>
          <c:spPr>
            <a:solidFill>
              <a:srgbClr val="C8A951"/>
            </a:solidFill>
            <a:ln w="38100" cap="flat">
              <a:solidFill>
                <a:srgbClr val="C8A951"/>
              </a:solidFill>
              <a:prstDash val="solid"/>
              <a:round/>
            </a:ln>
            <a:effectLst>
              <a:outerShdw sx="100000" sy="100000" kx="0" ky="0" algn="bl" blurRad="50800" rotWithShape="1" dist="25400" dir="5400000">
                <a:srgbClr val="001B4D">
                  <a:alpha val="30000"/>
                </a:srgbClr>
              </a:outerShdw>
            </a:effectLst>
          </c:spPr>
          <c:marker>
            <c:symbol val="circle"/>
            <c:size val="7"/>
            <c:spPr>
              <a:solidFill>
                <a:srgbClr val="C8A951"/>
              </a:solidFill>
              <a:ln w="9525" cap="flat">
                <a:solidFill>
                  <a:srgbClr val="C8A95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31/01</c:v>
                  </c:pt>
                  <c:pt idx="1">
                    <c:v>28/02</c:v>
                  </c:pt>
                  <c:pt idx="2">
                    <c:v>31/03</c:v>
                  </c:pt>
                  <c:pt idx="3">
                    <c:v>30/04</c:v>
                  </c:pt>
                  <c:pt idx="4">
                    <c:v>31/05</c:v>
                  </c:pt>
                  <c:pt idx="5">
                    <c:v>30/06</c:v>
                  </c:pt>
                  <c:pt idx="6">
                    <c:v>31/07</c:v>
                  </c:pt>
                  <c:pt idx="7">
                    <c:v>31/08</c:v>
                  </c:pt>
                  <c:pt idx="8">
                    <c:v>30/09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269638115746</c:v>
                </c:pt>
                <c:pt idx="1">
                  <c:v>265469334553</c:v>
                </c:pt>
                <c:pt idx="2">
                  <c:v>267459762762</c:v>
                </c:pt>
                <c:pt idx="3">
                  <c:v>260155324243</c:v>
                </c:pt>
                <c:pt idx="4">
                  <c:v>251913499667</c:v>
                </c:pt>
                <c:pt idx="5">
                  <c:v>247382030353</c:v>
                </c:pt>
                <c:pt idx="6">
                  <c:v>256897530911</c:v>
                </c:pt>
                <c:pt idx="7">
                  <c:v>260405484457</c:v>
                </c:pt>
                <c:pt idx="8">
                  <c:v>259457540560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>
              <a:outerShdw sx="100000" sy="100000" kx="0" ky="0" algn="bl" blurRad="50800" rotWithShape="1" dist="25400" dir="5400000">
                <a:srgbClr val="001B4D">
                  <a:alpha val="30000"/>
                </a:srgbClr>
              </a:outerShdw>
            </a:effectLst>
          </c:spPr>
          <c:marker>
            <c:symbol val="circle"/>
            <c:size val="7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31/01</c:v>
                  </c:pt>
                  <c:pt idx="1">
                    <c:v>28/02</c:v>
                  </c:pt>
                  <c:pt idx="2">
                    <c:v>31/03</c:v>
                  </c:pt>
                  <c:pt idx="3">
                    <c:v>30/04</c:v>
                  </c:pt>
                  <c:pt idx="4">
                    <c:v>31/05</c:v>
                  </c:pt>
                  <c:pt idx="5">
                    <c:v>30/06</c:v>
                  </c:pt>
                  <c:pt idx="6">
                    <c:v>31/07</c:v>
                  </c:pt>
                  <c:pt idx="7">
                    <c:v>31/08</c:v>
                  </c:pt>
                  <c:pt idx="8">
                    <c:v>30/09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263523119585</c:v>
                </c:pt>
                <c:pt idx="1">
                  <c:v>275253548816</c:v>
                </c:pt>
                <c:pt idx="2">
                  <c:v>278163621132</c:v>
                </c:pt>
                <c:pt idx="3">
                  <c:v>288562532063</c:v>
                </c:pt>
                <c:pt idx="4">
                  <c:v>302210258189</c:v>
                </c:pt>
                <c:pt idx="5">
                  <c:v>311191155804</c:v>
                </c:pt>
                <c:pt idx="6">
                  <c:v>313715142480</c:v>
                </c:pt>
                <c:pt idx="7">
                  <c:v>320285953006</c:v>
                </c:pt>
                <c:pt idx="8">
                  <c:v>323775211401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dash"/>
              <a:round/>
            </a:ln>
          </c:spPr>
        </c:majorGridlines>
        <c:numFmt formatCode="#,##0,,,&quot; Md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Stages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outerShdw sx="100000" sy="100000" kx="0" ky="0" algn="bl" blurRad="76200" rotWithShape="1" dist="38100" dir="5400000">
                <a:srgbClr val="001B4D">
                  <a:alpha val="35000"/>
                </a:srgbClr>
              </a:outerShdw>
            </a:effectLst>
          </c:spPr>
          <c:dPt>
            <c:idx val="0"/>
            <c:bubble3D val="0"/>
            <c:spPr>
              <a:solidFill>
                <a:srgbClr val="003DA5"/>
              </a:solidFill>
              <a:effectLst>
                <a:outerShdw sx="100000" sy="100000" kx="0" ky="0" algn="bl" blurRad="76200" rotWithShape="1" dist="38100" dir="5400000">
                  <a:srgbClr val="001B4D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rgbClr val="C8A951"/>
              </a:solidFill>
              <a:effectLst>
                <a:outerShdw sx="100000" sy="100000" kx="0" ky="0" algn="bl" blurRad="76200" rotWithShape="1" dist="38100" dir="5400000">
                  <a:srgbClr val="001B4D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rgbClr val="DC2626"/>
              </a:solidFill>
              <a:effectLst>
                <a:outerShdw sx="100000" sy="100000" kx="0" ky="0" algn="bl" blurRad="76200" rotWithShape="1" dist="38100" dir="5400000">
                  <a:srgbClr val="001B4D">
                    <a:alpha val="35000"/>
                  </a:srgbClr>
                </a:outer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267152833785</c:v>
                </c:pt>
                <c:pt idx="1">
                  <c:v>259457540560</c:v>
                </c:pt>
                <c:pt idx="2">
                  <c:v>323775211401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view3D>
      <c:rotX val="8"/>
      <c:rotY val="12"/>
      <c:rAngAx val="1"/>
      <c:perspective val="30"/>
    </c:view3D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Ouverture</c:v>
                  </c:pt>
                  <c:pt idx="1">
                    <c:v>Nouveaux impayés</c:v>
                  </c:pt>
                  <c:pt idx="2">
                    <c:v>Aggravations</c:v>
                  </c:pt>
                  <c:pt idx="3">
                    <c:v>Clôture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31559855616</c:v>
                </c:pt>
                <c:pt idx="2">
                  <c:v>31568337947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Mouvement</c:v>
                </c:pt>
              </c:strCache>
            </c:strRef>
          </c:tx>
          <c:spPr>
            <a:solidFill>
              <a:srgbClr val="003D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Ouverture</c:v>
                  </c:pt>
                  <c:pt idx="1">
                    <c:v>Nouveaux impayés</c:v>
                  </c:pt>
                  <c:pt idx="2">
                    <c:v>Aggravations</c:v>
                  </c:pt>
                  <c:pt idx="3">
                    <c:v>Clôture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31559855616</c:v>
                </c:pt>
                <c:pt idx="1">
                  <c:v>8482331</c:v>
                </c:pt>
                <c:pt idx="2">
                  <c:v>324795057</c:v>
                </c:pt>
                <c:pt idx="3">
                  <c:v>31893133004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gapDepth val="150"/>
        <c:shape val="box"/>
        <c:axId val="2094734554"/>
        <c:axId val="2094734552"/>
        <c:axId val="2094734556"/>
      </c:bar3D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erAx>
        <c:axId val="20947345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</c:ser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view3D>
      <c:rotX val="8"/>
      <c:rotY val="12"/>
      <c:rAngAx val="1"/>
      <c:perspective val="30"/>
    </c:view3D>
    <c:plotArea>
      <c:layout/>
      <c:bar3DChart>
        <c:barDir val="bar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Encours exposé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Prix à l'importation</c:v>
                  </c:pt>
                  <c:pt idx="1">
                    <c:v>Perte d'un donneur d'ordre</c:v>
                  </c:pt>
                  <c:pt idx="2">
                    <c:v>Paiements de l'État</c:v>
                  </c:pt>
                  <c:pt idx="3">
                    <c:v>Crise sanitaire</c:v>
                  </c:pt>
                  <c:pt idx="4">
                    <c:v>Hydrocarbures</c:v>
                  </c:pt>
                  <c:pt idx="5">
                    <c:v>Gouvernance / fraude</c:v>
                  </c:pt>
                  <c:pt idx="6">
                    <c:v>Campagne agricole</c:v>
                  </c:pt>
                  <c:pt idx="7">
                    <c:v>Taux BCEAO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23757475829</c:v>
                </c:pt>
                <c:pt idx="1">
                  <c:v>17089302774</c:v>
                </c:pt>
                <c:pt idx="2">
                  <c:v>13739782123</c:v>
                </c:pt>
                <c:pt idx="3">
                  <c:v>12763171576</c:v>
                </c:pt>
                <c:pt idx="4">
                  <c:v>7730751290</c:v>
                </c:pt>
                <c:pt idx="5">
                  <c:v>7343241906</c:v>
                </c:pt>
                <c:pt idx="6">
                  <c:v>5000377281</c:v>
                </c:pt>
                <c:pt idx="7">
                  <c:v>1190264756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gapDepth val="150"/>
        <c:shape val="box"/>
        <c:axId val="2094734554"/>
        <c:axId val="2094734552"/>
        <c:axId val="2094734556"/>
      </c:bar3D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erAx>
        <c:axId val="209473455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</c:ser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ApexHome" Type="http://schemas.openxmlformats.org/officeDocument/2006/relationships/slide" Target="slideApexAgenda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ApexHome" Type="http://schemas.openxmlformats.org/officeDocument/2006/relationships/slide" Target="slideApexAgenda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ApexHome" Type="http://schemas.openxmlformats.org/officeDocument/2006/relationships/slide" Target="slideApexAgenda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Relationship Id="rIdApexHome" Type="http://schemas.openxmlformats.org/officeDocument/2006/relationships/slide" Target="slideApexAgenda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ApexHome" Type="http://schemas.openxmlformats.org/officeDocument/2006/relationships/slide" Target="slideApexAgenda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ApexHome" Type="http://schemas.openxmlformats.org/officeDocument/2006/relationships/slide" Target="slideApexAgenda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ApexHome" Type="http://schemas.openxmlformats.org/officeDocument/2006/relationships/slide" Target="slideApexAgenda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ApexHome" Type="http://schemas.openxmlformats.org/officeDocument/2006/relationships/slide" Target="slideApexAgenda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ApexHome" Type="http://schemas.openxmlformats.org/officeDocument/2006/relationships/slide" Target="slideApexAgenda.xml"/></Relationships>
</file>

<file path=ppt/slides/_rels/slideApexAgenda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Relationship Id="rIdS2" Type="http://schemas.openxmlformats.org/officeDocument/2006/relationships/slide" Target="slide2.xml"/><Relationship Id="rIdS3" Type="http://schemas.openxmlformats.org/officeDocument/2006/relationships/slide" Target="slide3.xml"/><Relationship Id="rIdS4" Type="http://schemas.openxmlformats.org/officeDocument/2006/relationships/slide" Target="slide4.xml"/><Relationship Id="rIdS5" Type="http://schemas.openxmlformats.org/officeDocument/2006/relationships/slide" Target="slide5.xml"/><Relationship Id="rIdS6" Type="http://schemas.openxmlformats.org/officeDocument/2006/relationships/slide" Target="slide6.xml"/><Relationship Id="rIdS7" Type="http://schemas.openxmlformats.org/officeDocument/2006/relationships/slide" Target="slide7.xml"/><Relationship Id="rIdS8" Type="http://schemas.openxmlformats.org/officeDocument/2006/relationships/slide" Target="slide8.xml"/><Relationship Id="rIdS9" Type="http://schemas.openxmlformats.org/officeDocument/2006/relationships/slide" Target="slide9.xml"/><Relationship Id="rIdS10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01B4D">
              <a:alpha val="82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778240" y="-1463040"/>
            <a:ext cx="4572000" cy="45720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C O B A N K   S É N É G A 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13232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RISK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Monitoring &amp; Early Warning · Vue Comité des Risques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343400"/>
            <a:ext cx="5029200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23774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DATE
</a:t>
            </a: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SEPTEMBER 2026
</a:t>
            </a:r>
            <a:r>
              <a:rPr lang="en-US" sz="1100" b="1" dirty="0">
                <a:solidFill>
                  <a:srgbClr val="E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MONITORING
</a:t>
            </a: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Portefeuille Ecobank Sénégal · 700 clients · 2 500 lignes ACTE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INDICATORS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31/08/2026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003DA5"/>
          </a:solidFill>
          <a:ln w="9525">
            <a:solidFill>
              <a:srgbClr val="003DA5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371600"/>
            <a:ext cx="64008" cy="196596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EXPOSURE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7373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850,39 Md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XOF · 700 clients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0,0 %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97480" y="12344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1371600"/>
            <a:ext cx="64008" cy="1965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8036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ARREARS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880360" y="17373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31,89 Md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88036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XOF · 547 clients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88036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1,1 %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12344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1371600"/>
            <a:ext cx="6400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208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31–60 DAYS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212080" y="17373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86,37 Md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21208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 clients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1208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-3,5 %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60920" y="12344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60920" y="1371600"/>
            <a:ext cx="64008" cy="1965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380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61–90 DAYS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543800" y="17373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54380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clients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54380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692640" y="12344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692640" y="1371600"/>
            <a:ext cx="64008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0" y="1371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90 DAYS / S3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875520" y="17373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323,78 Md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987552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264 clients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987552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1,1 %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65760" y="37490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65760" y="3886200"/>
            <a:ext cx="64008" cy="196596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3886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48640" y="42519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259,46 Md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54864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30,5 % de l'encours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4864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-0,4 %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697480" y="37490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2697480" y="3886200"/>
            <a:ext cx="64008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880360" y="3886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880360" y="42519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323,78 Md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288036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38,1 % de l'encours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288036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1,1 %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029200" y="37490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029200" y="3886200"/>
            <a:ext cx="64008" cy="1965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212080" y="3886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PROVISIONS (ECL)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212080" y="42519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37,32 Md</a:t>
            </a:r>
            <a:endParaRPr lang="en-US" sz="2400" dirty="0"/>
          </a:p>
        </p:txBody>
      </p:sp>
      <p:sp>
        <p:nvSpPr>
          <p:cNvPr id="54" name="Text 51"/>
          <p:cNvSpPr/>
          <p:nvPr/>
        </p:nvSpPr>
        <p:spPr>
          <a:xfrm>
            <a:off x="521208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couverture 4,4 %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521208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0,5 %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7360920" y="37490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7360920" y="3886200"/>
            <a:ext cx="6400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543800" y="3886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WATCHLIST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543800" y="42519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289</a:t>
            </a:r>
            <a:endParaRPr lang="en-US" sz="2400" dirty="0"/>
          </a:p>
        </p:txBody>
      </p:sp>
      <p:sp>
        <p:nvSpPr>
          <p:cNvPr id="60" name="Text 57"/>
          <p:cNvSpPr/>
          <p:nvPr/>
        </p:nvSpPr>
        <p:spPr>
          <a:xfrm>
            <a:off x="754380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dossiers · 322,71 Md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754380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9692640" y="3749040"/>
            <a:ext cx="2148840" cy="2240280"/>
          </a:xfrm>
          <a:prstGeom prst="roundRect">
            <a:avLst>
              <a:gd name="adj" fmla="val 5106"/>
            </a:avLst>
          </a:prstGeom>
          <a:solidFill>
            <a:srgbClr val="003DA5"/>
          </a:solidFill>
          <a:ln w="9525">
            <a:solidFill>
              <a:srgbClr val="003DA5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9692640" y="3886200"/>
            <a:ext cx="64008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875520" y="38862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9875520" y="4251960"/>
            <a:ext cx="192024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25400" dir="5400000">
              <a:srgbClr val="001B4D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3,49 Md</a:t>
            </a:r>
            <a:endParaRPr lang="en-US" sz="2400" dirty="0"/>
          </a:p>
        </p:txBody>
      </p:sp>
      <p:sp>
        <p:nvSpPr>
          <p:cNvPr id="66" name="Text 63"/>
          <p:cNvSpPr/>
          <p:nvPr/>
        </p:nvSpPr>
        <p:spPr>
          <a:xfrm>
            <a:off x="987552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dossiers critiques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987552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3325091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3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TREND &amp; RISK DISTRIBUTION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740664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548640" y="128016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046720" y="1097280"/>
            <a:ext cx="3749040" cy="52120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graphicFrame>
        <p:nvGraphicFramePr>
          <p:cNvPr id="11" name="Chart 1" descr=""/>
          <p:cNvGraphicFramePr/>
          <p:nvPr/>
        </p:nvGraphicFramePr>
        <p:xfrm>
          <a:off x="8229600" y="1280160"/>
          <a:ext cx="3383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4433455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4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DID IT MOVE?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 des impayés 31/08/2026 → 30/09/2026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11430000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548640" y="128016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82296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31,56 Md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2900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+8,5 M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3504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+324,8 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4108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31,89 Md</a:t>
            </a:r>
            <a:endParaRPr lang="en-US" sz="1100" dirty="0"/>
          </a:p>
        </p:txBody>
      </p:sp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5541818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5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VISUALS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visuels en relief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577840" cy="26060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577840" cy="26060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94760"/>
            <a:ext cx="5577840" cy="260604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94760"/>
            <a:ext cx="5577840" cy="2606040"/>
          </a:xfrm>
          <a:prstGeom prst="rect">
            <a:avLst/>
          </a:prstGeom>
        </p:spPr>
      </p:pic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6650182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6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RISKS &amp; RISK ACTION CENTER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14300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114300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8720" y="114300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SOCIETE 0078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131,5 M XOF · 286 j · Stage 3 · RISK OUTLOOK PD 12M 13,7 % (MARKOV)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13441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13441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01168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201168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88720" y="201168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SOCIETE 0450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3,03 Md XOF · 304 j · Stage 3 · RISK OUTLOOK PD 12M 100,0 % (OBSERVED)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221284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22128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288036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288036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88720" y="288036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SOCIETE 0088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75,4 M XOF · 307 j · Stage 3 · RISK OUTLOOK PD 12M 100,0 % (OBSERVED)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308152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0" y="30815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74904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7200" y="374904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88720" y="374904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SOCIETE 0208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90,4 M XOF · 296 j · Stage 3 · RISK OUTLOOK PD 12M 100,0 % (OBSERVED)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0" y="395020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0" y="39502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" y="461772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57200" y="461772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88720" y="461772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SOCIETE 0197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87,1 M XOF · 279 j · Stage 3 · RISK OUTLOOK PD 12M 100,0 % (OBSERVED)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0" y="481888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3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00800" y="4818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548640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57200" y="548640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88720" y="548640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SOCIETE 0052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71,5 M XOF · 271 j · Stage 3 · RISK OUTLOOK PD 12M 100,0 % (OBSERVED)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0" y="56875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3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400800" y="5687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138160" y="114300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275320" y="128016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75320" y="128016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932688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 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Critique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3,49 Md XOF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372600" y="1947672"/>
            <a:ext cx="2194560" cy="10972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372600" y="1947672"/>
            <a:ext cx="1828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138160" y="2441448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8275320" y="2578608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75320" y="2578608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9326880" y="25328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 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Priorité haute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130,04 Md XOF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372600" y="3246120"/>
            <a:ext cx="2194560" cy="10972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372600" y="3246120"/>
            <a:ext cx="3657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138160" y="3739896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275320" y="3877056"/>
            <a:ext cx="960120" cy="868680"/>
          </a:xfrm>
          <a:prstGeom prst="roundRect">
            <a:avLst>
              <a:gd name="adj" fmla="val 8421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75320" y="3877056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235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9326880" y="383133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 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Surveillance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189,18 Md XOF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372600" y="4544568"/>
            <a:ext cx="2194560" cy="10972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372600" y="4544568"/>
            <a:ext cx="18288" cy="109728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138160" y="5038344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275320" y="5175504"/>
            <a:ext cx="960120" cy="868680"/>
          </a:xfrm>
          <a:prstGeom prst="roundRect">
            <a:avLst>
              <a:gd name="adj" fmla="val 842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275320" y="5175504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9326880" y="512978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CURED  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Régularisé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XOF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9372600" y="5843016"/>
            <a:ext cx="2194560" cy="10972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372600" y="5843016"/>
            <a:ext cx="18288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7758545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7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calculés sur les données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14300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143000"/>
            <a:ext cx="27249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280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280160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IMPAYÉS EN HAUSSE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+333,3 M XOF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2331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impayés passent de 31,56 Md à 31,89 Md XOF depuis le 31/08/2026. Nouveaux impayés : 8,5 M (3 % des hausses) ; régularisations : 0 ; remboursements partiels : 0.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73552" y="114300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73552" y="1143000"/>
            <a:ext cx="272491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0712" y="1280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187952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&amp;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10712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583,23 Md XOF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410712" y="2331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: 259,46 Md (30,5 % de l'encours) ; −947,9 M sur le mois. Stage 3 : 323,78 Md (38,1 %) ; +3,49 Md. Provisions : 37,32 Md XOF.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181344" y="114300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81344" y="1143000"/>
            <a:ext cx="272491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8504" y="1280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095744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18504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dossiers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18504" y="2331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dossiers critiques (3,49 Md XOF) et 48 en priorité haute nécessitent une intervention. Premier dossier : SOCIETE 0450 (3,03 Md, 304 j).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9089136" y="114300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89136" y="1143000"/>
            <a:ext cx="27249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26296" y="1280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10003536" y="1325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RÉGULARISATIONS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26296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dossiers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226296" y="233172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clients en impayé au 31/08/2026 sont revenus à jour, soit 0 XOF d'impayés résorbés.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65760" y="384048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65760" y="3840480"/>
            <a:ext cx="272491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128016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292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dossiers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02920" y="50292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clients ont migré vers une tranche d'impayé plus dégradée (1,3 % des clients suivis), dont 6 au-delà de 90 jours ou en Stage 3 pour 3,49 Md XOF d'encours.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73552" y="384048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273552" y="384048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10712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4187952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PROSPECTIF · RISK OUTLOOK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410712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 12M = 3,8 %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3410712" y="50292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Probabilité qu'un client sain aujourd'hui devienne douteux sous 12 mois (MARKOV, N = 17 850, 9 mois, confiance faible). Scénario sévère : 66,36 Md XOF d'entrées en douteux attendues (SIMULATED). Estimation indicative : historique insuffisant pour une calibration robuste.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181344" y="384048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181344" y="3840480"/>
            <a:ext cx="2724912" cy="7315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18504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47" name="Text 44"/>
          <p:cNvSpPr/>
          <p:nvPr/>
        </p:nvSpPr>
        <p:spPr>
          <a:xfrm>
            <a:off x="7095744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CONCENTRATION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318504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B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= 8,3 %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6318504" y="50292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10 premiers clients portent 70,74 Md XOF sur 850,39 Md. Premier client : BAOBAB NEGOCE SA (1,0 %). Premier segment : X (100 %).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9089136" y="3840480"/>
            <a:ext cx="2724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6F7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9089136" y="3840480"/>
            <a:ext cx="272491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226296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2600" dirty="0"/>
          </a:p>
        </p:txBody>
      </p:sp>
      <p:sp>
        <p:nvSpPr>
          <p:cNvPr id="53" name="Text 50"/>
          <p:cNvSpPr/>
          <p:nvPr/>
        </p:nvSpPr>
        <p:spPr>
          <a:xfrm>
            <a:off x="10003536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ANALYSES AVANCÉES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9226296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Guérison 31-60 j = 0,0 %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9226296" y="502920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client sain met en moyenne — mois avant le défaut (MARKOV). Probabilité de guérison : 0,0 % depuis 31-60 j, 0,0 % depuis 61-90 j. PD 12M : IC 90 % 3,1 % – 4,6 % (SIMULATED). Backtest : 8,2 entrées prévues contre 8 observées. Un facteur ×2,00 sur les dégradations double la PD (STRESS).</a:t>
            </a:r>
            <a:endParaRPr lang="en-US" sz="800" dirty="0"/>
          </a:p>
        </p:txBody>
      </p:sp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8866909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8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COUCHE ANALYSE SÉMANTIQUE &amp; RISK OUTLOOK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jugements sans chiffres · probabilités avec provenance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11430000" cy="1097280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BFD3FF"/>
            </a:solidFill>
            <a:prstDash val="solid"/>
          </a:ln>
          <a:effectLst>
            <a:outerShdw sx="100000" sy="100000" kx="0" ky="0" algn="bl" rotWithShape="0" blurRad="101600" dist="50800" dir="5400000">
              <a:srgbClr val="001B4D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OUTLOOK · PD 12M (sains) : 3,8 %
</a:t>
            </a: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MARKOV · Markov mensuel portefeuille · N = 17 850 · Historique = 9 mois · Horizon = 12 m · Confiance = faible  ·  ⚠ Estimation indicative — historique insuffisant pour une calibration statistique robuste.</a:t>
            </a:r>
            <a:endParaRPr lang="en-US" sz="16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3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Analyses avancées : avant défaut — mois · guérison 31-60 j 0,0 % · IC 90 % 3,1 % – 4,6 % · stress inverse ×2.00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Référence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Orientation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Statut retenu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L0001140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Retard technique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78 %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Gestionnaire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Promesse de règlement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L0001765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Tension de trésorerie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Gestionnaire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L0002096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injoignable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Recouvrement amiable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L0000355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Régularisation annoncée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Gestionnaire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L0001165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Perte de revenus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Recouvrement amiable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L0002465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Perte de revenus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Restructuration (crédit)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Restructuration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L0000639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Aucun motif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Recouvrement amiable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Promesse de règlement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L0001328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Litige juridique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Juridique / contentieux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Escalade contentieux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L0000550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Santé / décès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Juridique / contentieux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L0002461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Tension de trésorerie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Recouvrement amiable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L0001055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Aucun motif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Gestionnaire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Revue analyste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9975273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9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NARRATIF · SCÉNARIOS MACRO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exposition jugée · montants calculés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97280"/>
          <a:ext cx="58521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Scénario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Dossiers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Encours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Douteux attendus · stress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Prix à l'importation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23,76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3,13 Md → 5,51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Perte d'un donneur d'ordre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17,09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2,00 Md → 3,54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Paiements de l'État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13,74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1,88 Md → 3,30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Crise sanitaire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12,76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1,74 Md → 3,07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Hydrocarbures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7,73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1,06 Md → 1,86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Gouvernance / fraude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7,34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 Md → 1,77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Campagne agricole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5,00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683,4 M → 1,20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Taux BCEAO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1,19 Md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45,2 M → 87,1 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11083636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10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535" b="35535"/>
          <a:stretch/>
        </p:blipFill>
        <p:spPr>
          <a:xfrm>
            <a:off x="0" y="0"/>
            <a:ext cx="12191695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34187" cy="822960"/>
          </a:xfrm>
          <a:prstGeom prst="rect">
            <a:avLst/>
          </a:prstGeom>
          <a:solidFill>
            <a:srgbClr val="001B4D">
              <a:alpha val="85000"/>
            </a:srgbClr>
          </a:solidFill>
          <a:ln w="12700">
            <a:solidFill>
              <a:srgbClr val="001B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09728"/>
            <a:ext cx="8686800" cy="603504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ECOBANK SÉNÉGAL   </a:t>
            </a: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· CONTRÔLES AUTOMATIQUES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95360" y="182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canonique unique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30/09/2026 · INTERNAL USE ONLY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86868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Contrôle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Résultat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Encours : somme des clients = agrégat APEX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Impayés : somme des clients = agrégat APEX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Pont des impayés : ouverture + mouvements = clôture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Tranches : somme des encours par tranche = encours total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Watchlist : encours ≤ encours total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Clients en double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Valeurs non numériques (non-nombres, infinis)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Provisions de l'historique sur base IFRS 9 (comparables)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OUTLOOK : PD avec provenance pour chaque client de la watchlist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Historique disponible pour les tendances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CONFORME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001" name="Progression fond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DBE6F7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2" name="Progression"/>
          <p:cNvSpPr/>
          <p:nvPr/>
        </p:nvSpPr>
        <p:spPr>
          <a:xfrm>
            <a:off x="0" y="6782562"/>
            <a:ext cx="12192000" cy="7543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9003" name="Pagination"/>
          <p:cNvSpPr/>
          <p:nvPr/>
        </p:nvSpPr>
        <p:spPr>
          <a:xfrm>
            <a:off x="10789920" y="6343650"/>
            <a:ext cx="1219200" cy="342900"/>
          </a:xfrm>
          <a:prstGeom prst="round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900" b="1" dirty="0">
                <a:solidFill>
                  <a:srgbClr val="FFFFFF"/>
                </a:solidFill>
                <a:latin typeface="Segoe UI"/>
              </a:rPr>
              <a:t>11 / 11</a:t>
            </a:r>
          </a:p>
        </p:txBody>
      </p:sp>
      <p:sp>
        <p:nvSpPr>
          <p:cNvPr id="9004" name="Retour sommaire">
            <a:hlinkClick r:id="rIdApexHome" action="ppaction://hlinksldjump"/>
          </p:cNvPr>
          <p:cNvSpPr/>
          <p:nvPr/>
        </p:nvSpPr>
        <p:spPr>
          <a:xfrm>
            <a:off x="10180320" y="6343650"/>
            <a:ext cx="342900" cy="342900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⌂</a:t>
            </a:r>
          </a:p>
        </p:txBody>
      </p:sp>
    </p:spTree>
  </p:cSld>
  <p:clrMapOvr>
    <a:masterClrMapping/>
  </p:clrMapOvr>
</p:sld>
</file>

<file path=ppt/slides/slideApexAgenda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mmaire APEX"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B4D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3" name="Ban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</a:p>
        </p:txBody>
      </p:sp>
      <p:sp>
        <p:nvSpPr>
          <p:cNvPr id="4" name="Titre"/>
          <p:cNvSpPr/>
          <p:nvPr/>
        </p:nvSpPr>
        <p:spPr>
          <a:xfrm>
            <a:off x="609600" y="41148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2600" b="1" dirty="0">
                <a:solidFill>
                  <a:srgbClr val="FFFFFF"/>
                </a:solidFill>
                <a:latin typeface="Segoe UI"/>
              </a:rPr>
              <a:t>SOMMAIRE INTERACTIF</a:t>
            </a:r>
          </a:p>
        </p:txBody>
      </p:sp>
      <p:sp>
        <p:nvSpPr>
          <p:cNvPr id="5" name="Sous-titre"/>
          <p:cNvSpPr/>
          <p:nvPr/>
        </p:nvSpPr>
        <p:spPr>
          <a:xfrm>
            <a:off x="609600" y="106299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00" b="0" dirty="0">
                <a:solidFill>
                  <a:srgbClr val="9FD0E6"/>
                </a:solidFill>
                <a:latin typeface="Segoe UI"/>
              </a:rPr>
              <a:t>Cliquez sur une section pour y aller · le bouton ⌂ de chaque diapositive ramène ici</a:t>
            </a:r>
          </a:p>
        </p:txBody>
      </p:sp>
      <p:sp>
        <p:nvSpPr>
          <p:cNvPr id="10" name="Pastille">
            <a:hlinkClick r:id="rIdS2" action="ppaction://hlinksldjump"/>
          </p:cNvPr>
          <p:cNvSpPr/>
          <p:nvPr/>
        </p:nvSpPr>
        <p:spPr>
          <a:xfrm>
            <a:off x="609600" y="184343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3</a:t>
            </a:r>
          </a:p>
        </p:txBody>
      </p:sp>
      <p:sp>
        <p:nvSpPr>
          <p:cNvPr id="11" name="Section">
            <a:hlinkClick r:id="rIdS2" action="ppaction://hlinksldjump"/>
          </p:cNvPr>
          <p:cNvSpPr/>
          <p:nvPr/>
        </p:nvSpPr>
        <p:spPr>
          <a:xfrm>
            <a:off x="1087374" y="182331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KEY INDICATORS</a:t>
            </a:r>
          </a:p>
        </p:txBody>
      </p:sp>
      <p:sp>
        <p:nvSpPr>
          <p:cNvPr id="13" name="Pastille">
            <a:hlinkClick r:id="rIdS3" action="ppaction://hlinksldjump"/>
          </p:cNvPr>
          <p:cNvSpPr/>
          <p:nvPr/>
        </p:nvSpPr>
        <p:spPr>
          <a:xfrm>
            <a:off x="609600" y="234635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4</a:t>
            </a:r>
          </a:p>
        </p:txBody>
      </p:sp>
      <p:sp>
        <p:nvSpPr>
          <p:cNvPr id="14" name="Section">
            <a:hlinkClick r:id="rIdS3" action="ppaction://hlinksldjump"/>
          </p:cNvPr>
          <p:cNvSpPr/>
          <p:nvPr/>
        </p:nvSpPr>
        <p:spPr>
          <a:xfrm>
            <a:off x="1087374" y="232623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PORTFOLIO TREND &amp; RISK DISTRIBUTION</a:t>
            </a:r>
          </a:p>
        </p:txBody>
      </p:sp>
      <p:sp>
        <p:nvSpPr>
          <p:cNvPr id="16" name="Pastille">
            <a:hlinkClick r:id="rIdS4" action="ppaction://hlinksldjump"/>
          </p:cNvPr>
          <p:cNvSpPr/>
          <p:nvPr/>
        </p:nvSpPr>
        <p:spPr>
          <a:xfrm>
            <a:off x="609600" y="284927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5</a:t>
            </a:r>
          </a:p>
        </p:txBody>
      </p:sp>
      <p:sp>
        <p:nvSpPr>
          <p:cNvPr id="17" name="Section">
            <a:hlinkClick r:id="rIdS4" action="ppaction://hlinksldjump"/>
          </p:cNvPr>
          <p:cNvSpPr/>
          <p:nvPr/>
        </p:nvSpPr>
        <p:spPr>
          <a:xfrm>
            <a:off x="1087374" y="282915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WHY DID IT MOVE?</a:t>
            </a:r>
          </a:p>
        </p:txBody>
      </p:sp>
      <p:sp>
        <p:nvSpPr>
          <p:cNvPr id="19" name="Pastille">
            <a:hlinkClick r:id="rIdS5" action="ppaction://hlinksldjump"/>
          </p:cNvPr>
          <p:cNvSpPr/>
          <p:nvPr/>
        </p:nvSpPr>
        <p:spPr>
          <a:xfrm>
            <a:off x="609600" y="335219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6</a:t>
            </a:r>
          </a:p>
        </p:txBody>
      </p:sp>
      <p:sp>
        <p:nvSpPr>
          <p:cNvPr id="20" name="Section">
            <a:hlinkClick r:id="rIdS5" action="ppaction://hlinksldjump"/>
          </p:cNvPr>
          <p:cNvSpPr/>
          <p:nvPr/>
        </p:nvSpPr>
        <p:spPr>
          <a:xfrm>
            <a:off x="1087374" y="333207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3D VISUALS</a:t>
            </a:r>
          </a:p>
        </p:txBody>
      </p:sp>
      <p:sp>
        <p:nvSpPr>
          <p:cNvPr id="22" name="Pastille">
            <a:hlinkClick r:id="rIdS6" action="ppaction://hlinksldjump"/>
          </p:cNvPr>
          <p:cNvSpPr/>
          <p:nvPr/>
        </p:nvSpPr>
        <p:spPr>
          <a:xfrm>
            <a:off x="609600" y="385511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7</a:t>
            </a:r>
          </a:p>
        </p:txBody>
      </p:sp>
      <p:sp>
        <p:nvSpPr>
          <p:cNvPr id="23" name="Section">
            <a:hlinkClick r:id="rIdS6" action="ppaction://hlinksldjump"/>
          </p:cNvPr>
          <p:cNvSpPr/>
          <p:nvPr/>
        </p:nvSpPr>
        <p:spPr>
          <a:xfrm>
            <a:off x="1087374" y="383499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TOP RISKS &amp; RISK ACTION CENTER</a:t>
            </a:r>
          </a:p>
        </p:txBody>
      </p:sp>
      <p:sp>
        <p:nvSpPr>
          <p:cNvPr id="25" name="Pastille">
            <a:hlinkClick r:id="rIdS7" action="ppaction://hlinksldjump"/>
          </p:cNvPr>
          <p:cNvSpPr/>
          <p:nvPr/>
        </p:nvSpPr>
        <p:spPr>
          <a:xfrm>
            <a:off x="609600" y="435803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8</a:t>
            </a:r>
          </a:p>
        </p:txBody>
      </p:sp>
      <p:sp>
        <p:nvSpPr>
          <p:cNvPr id="26" name="Section">
            <a:hlinkClick r:id="rIdS7" action="ppaction://hlinksldjump"/>
          </p:cNvPr>
          <p:cNvSpPr/>
          <p:nvPr/>
        </p:nvSpPr>
        <p:spPr>
          <a:xfrm>
            <a:off x="1087374" y="433791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INSIGHTS</a:t>
            </a:r>
          </a:p>
        </p:txBody>
      </p:sp>
      <p:sp>
        <p:nvSpPr>
          <p:cNvPr id="28" name="Pastille">
            <a:hlinkClick r:id="rIdS8" action="ppaction://hlinksldjump"/>
          </p:cNvPr>
          <p:cNvSpPr/>
          <p:nvPr/>
        </p:nvSpPr>
        <p:spPr>
          <a:xfrm>
            <a:off x="609600" y="486095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9</a:t>
            </a:r>
          </a:p>
        </p:txBody>
      </p:sp>
      <p:sp>
        <p:nvSpPr>
          <p:cNvPr id="29" name="Section">
            <a:hlinkClick r:id="rIdS8" action="ppaction://hlinksldjump"/>
          </p:cNvPr>
          <p:cNvSpPr/>
          <p:nvPr/>
        </p:nvSpPr>
        <p:spPr>
          <a:xfrm>
            <a:off x="1087374" y="484083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COUCHE ANALYSE SÉMANTIQUE &amp; RISK OUTLOOK</a:t>
            </a:r>
          </a:p>
        </p:txBody>
      </p:sp>
      <p:sp>
        <p:nvSpPr>
          <p:cNvPr id="31" name="Pastille">
            <a:hlinkClick r:id="rIdS9" action="ppaction://hlinksldjump"/>
          </p:cNvPr>
          <p:cNvSpPr/>
          <p:nvPr/>
        </p:nvSpPr>
        <p:spPr>
          <a:xfrm>
            <a:off x="609600" y="536387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10</a:t>
            </a:r>
          </a:p>
        </p:txBody>
      </p:sp>
      <p:sp>
        <p:nvSpPr>
          <p:cNvPr id="32" name="Section">
            <a:hlinkClick r:id="rIdS9" action="ppaction://hlinksldjump"/>
          </p:cNvPr>
          <p:cNvSpPr/>
          <p:nvPr/>
        </p:nvSpPr>
        <p:spPr>
          <a:xfrm>
            <a:off x="1087374" y="534375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STRESS NARRATIF · SCÉNARIOS MACRO</a:t>
            </a:r>
          </a:p>
        </p:txBody>
      </p:sp>
      <p:sp>
        <p:nvSpPr>
          <p:cNvPr id="34" name="Pastille">
            <a:hlinkClick r:id="rIdS10" action="ppaction://hlinksldjump"/>
          </p:cNvPr>
          <p:cNvSpPr/>
          <p:nvPr/>
        </p:nvSpPr>
        <p:spPr>
          <a:xfrm>
            <a:off x="609600" y="5866790"/>
            <a:ext cx="382219" cy="382219"/>
          </a:xfrm>
          <a:prstGeom prst="roundRect">
            <a:avLst/>
          </a:prstGeom>
          <a:solidFill>
            <a:srgbClr val="C8A951"/>
          </a:solidFill>
          <a:ln>
            <a:noFill/>
          </a:ln>
        </p:spPr>
        <p:txBody>
          <a:bodyPr wrap="square" lIns="45720" rIns="45720" tIns="0" bIns="0" anchor="ctr">
            <a:normAutofit/>
          </a:bodyPr>
          <a:lstStyle/>
          <a:p>
            <a:pPr algn="ctr"/>
            <a:r>
              <a:rPr lang="fr-FR" sz="1000" b="1" dirty="0">
                <a:solidFill>
                  <a:srgbClr val="001B4D"/>
                </a:solidFill>
                <a:latin typeface="Segoe UI"/>
              </a:rPr>
              <a:t>11</a:t>
            </a:r>
          </a:p>
        </p:txBody>
      </p:sp>
      <p:sp>
        <p:nvSpPr>
          <p:cNvPr id="35" name="Section">
            <a:hlinkClick r:id="rIdS10" action="ppaction://hlinksldjump"/>
          </p:cNvPr>
          <p:cNvSpPr/>
          <p:nvPr/>
        </p:nvSpPr>
        <p:spPr>
          <a:xfrm>
            <a:off x="1087374" y="5846674"/>
            <a:ext cx="10419588" cy="422453"/>
          </a:xfrm>
          <a:prstGeom prst="roundRect">
            <a:avLst/>
          </a:prstGeom>
          <a:solidFill>
            <a:srgbClr val="0A4F6E"/>
          </a:solidFill>
          <a:ln>
            <a:noFill/>
          </a:ln>
          <a:effectLst>
            <a:outerShdw blurRad="60000" dist="20000" dir="5400000" algn="t" rotWithShape="0">
              <a:srgbClr val="000000">
                <a:alpha val="30000"/>
              </a:srgbClr>
            </a:outerShdw>
          </a:effectLst>
        </p:spPr>
        <p:txBody>
          <a:bodyPr wrap="square" lIns="45720" rIns="45720" tIns="0" bIns="0" anchor="ctr">
            <a:normAutofit/>
          </a:bodyPr>
          <a:lstStyle/>
          <a:p>
            <a:pPr algn="l"/>
            <a:r>
              <a:rPr lang="fr-FR" sz="1150" b="0" dirty="0">
                <a:solidFill>
                  <a:srgbClr val="FFFFFF"/>
                </a:solidFill>
                <a:latin typeface="Segoe UI"/>
              </a:rPr>
              <a:t>◆ ECOBANK SÉNÉGAL   AUDIT · CONTRÔLES AUTOMATIQUES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Intelligence — 30/09/2026</dc:title>
  <dc:subject>PptxGenJS Presentation</dc:subject>
  <dc:creator>PptxGenJS</dc:creator>
  <cp:lastModifiedBy>PptxGenJS</cp:lastModifiedBy>
  <cp:revision>1</cp:revision>
  <dcterms:created xsi:type="dcterms:W3CDTF">2026-10-03T15:12:22Z</dcterms:created>
  <dcterms:modified xsi:type="dcterms:W3CDTF">2026-10-03T15:12:22Z</dcterms:modified>
</cp:coreProperties>
</file>